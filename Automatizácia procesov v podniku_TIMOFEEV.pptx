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4"/>
  </p:sldMasterIdLst>
  <p:notesMasterIdLst>
    <p:notesMasterId r:id="rId9"/>
  </p:notesMasterIdLst>
  <p:sldIdLst>
    <p:sldId id="267" r:id="rId5"/>
    <p:sldId id="289" r:id="rId6"/>
    <p:sldId id="270" r:id="rId7"/>
    <p:sldId id="274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8CF6AB-2058-40BD-8D5E-9879A3D40293}" v="60" dt="2026-04-22T20:37:28.976"/>
    <p1510:client id="{F9AF2BB8-BA75-0F5E-FD54-5008E986822C}" v="350" dt="2026-04-22T20:32:13.1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hlavičk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Zástupný objekt pre dá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C0E0C2-E320-48D5-8EC4-AA0789C7DD9E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4" name="Zástupný objekt pre obrázok snímky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Zástupný objekt pre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ru-RU"/>
          </a:p>
        </p:txBody>
      </p:sp>
      <p:sp>
        <p:nvSpPr>
          <p:cNvPr id="6" name="Zástupný objekt pre pät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Zástupný objekt pre číslo snímk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2971FA-FFB7-4DF7-BA95-A2B2E4797A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2982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2971FA-FFB7-4DF7-BA95-A2B2E4797A32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8593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70A892B-C57F-1329-B1FB-41E806EF30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  <a:endParaRPr lang="ru-RU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EB4E6AA-37A0-690E-5A5C-C4E297B94B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ru-RU"/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FE947B9F-D51C-26DB-6DD3-FBA6BA542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719A7-2D5D-42B7-BCBD-7049486A0924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36E92E98-95CF-F5A5-373D-70BA4556B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B3C8FC10-B053-CE9D-0219-78E944601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DAA01-694A-4CA8-A56A-D5A623B91D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7680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77CE87E-AA50-D9B9-AD44-55F088344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  <a:endParaRPr lang="ru-RU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D93AFDD2-0CEE-DBA6-C75F-85B12B335F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FC226CFE-5D8F-4844-E984-60496DA8E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719A7-2D5D-42B7-BCBD-7049486A0924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01ECAB1F-BB1D-F263-3540-7141D4B29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3214A5F4-C939-54E9-77EC-A017C1F47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DAA01-694A-4CA8-A56A-D5A623B91D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7988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835D7B2-BD60-5DAD-FBE0-53C2926F2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ru-RU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DF87712-7F70-175F-2915-9F834BD4B3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ru-RU"/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0F223FC9-D7B1-1D26-972E-E56E74C064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ru-RU"/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E8AC26AE-F5D9-041F-7CE9-577D019A1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719A7-2D5D-42B7-BCBD-7049486A0924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FB00EE49-74AB-77BA-90A4-F1447CD64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595E25F6-07A5-E6D2-5FC0-BDDA75189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DAA01-694A-4CA8-A56A-D5A623B91D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3102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A648D96-B4D3-C2EA-9AE7-6E0B92E27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ru-RU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E0A9135-218F-BBE9-06B6-A4B9963C3C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968A56FA-F928-4BD1-43E8-DA4454CC3F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ru-RU"/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A73BE797-5CF4-895E-C9F4-987F4C3770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Zástupný objekt pre obsah 5">
            <a:extLst>
              <a:ext uri="{FF2B5EF4-FFF2-40B4-BE49-F238E27FC236}">
                <a16:creationId xmlns:a16="http://schemas.microsoft.com/office/drawing/2014/main" id="{786A4D0C-38F3-5A21-D486-82BEF75813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ru-RU"/>
          </a:p>
        </p:txBody>
      </p:sp>
      <p:sp>
        <p:nvSpPr>
          <p:cNvPr id="7" name="Zástupný objekt pre dátum 6">
            <a:extLst>
              <a:ext uri="{FF2B5EF4-FFF2-40B4-BE49-F238E27FC236}">
                <a16:creationId xmlns:a16="http://schemas.microsoft.com/office/drawing/2014/main" id="{FC46490E-40B5-6D16-829D-81585E986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719A7-2D5D-42B7-BCBD-7049486A0924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8" name="Zástupný objekt pre pätu 7">
            <a:extLst>
              <a:ext uri="{FF2B5EF4-FFF2-40B4-BE49-F238E27FC236}">
                <a16:creationId xmlns:a16="http://schemas.microsoft.com/office/drawing/2014/main" id="{C8291BC1-4F1C-631E-A57C-18E32A588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Zástupný objekt pre číslo snímky 8">
            <a:extLst>
              <a:ext uri="{FF2B5EF4-FFF2-40B4-BE49-F238E27FC236}">
                <a16:creationId xmlns:a16="http://schemas.microsoft.com/office/drawing/2014/main" id="{41E3EB9E-6237-F0BD-AA91-6498CEF6C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DAA01-694A-4CA8-A56A-D5A623B91D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5806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5F20FC9-5AF9-9A13-FF24-2E6266EB1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ru-RU"/>
          </a:p>
        </p:txBody>
      </p:sp>
      <p:sp>
        <p:nvSpPr>
          <p:cNvPr id="3" name="Zástupný objekt pre dátum 2">
            <a:extLst>
              <a:ext uri="{FF2B5EF4-FFF2-40B4-BE49-F238E27FC236}">
                <a16:creationId xmlns:a16="http://schemas.microsoft.com/office/drawing/2014/main" id="{4488376F-F253-C517-5F91-E0371DFAE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719A7-2D5D-42B7-BCBD-7049486A0924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4" name="Zástupný objekt pre pätu 3">
            <a:extLst>
              <a:ext uri="{FF2B5EF4-FFF2-40B4-BE49-F238E27FC236}">
                <a16:creationId xmlns:a16="http://schemas.microsoft.com/office/drawing/2014/main" id="{21C34147-7CC5-83CD-0F2F-479BF90EC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B2E1A4C7-6D42-271F-06CB-02F220045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DAA01-694A-4CA8-A56A-D5A623B91D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8724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dátum 1">
            <a:extLst>
              <a:ext uri="{FF2B5EF4-FFF2-40B4-BE49-F238E27FC236}">
                <a16:creationId xmlns:a16="http://schemas.microsoft.com/office/drawing/2014/main" id="{305FA953-A2B7-B228-8701-F2F7E5372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719A7-2D5D-42B7-BCBD-7049486A0924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3" name="Zástupný objekt pre pätu 2">
            <a:extLst>
              <a:ext uri="{FF2B5EF4-FFF2-40B4-BE49-F238E27FC236}">
                <a16:creationId xmlns:a16="http://schemas.microsoft.com/office/drawing/2014/main" id="{4A70FED4-996D-D745-520E-E0806BAB2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37F9F9E3-08EF-81C0-080C-DD7FF861E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DAA01-694A-4CA8-A56A-D5A623B91D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6086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17059EC-614D-38AF-9D7A-88F07E5F5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ru-RU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BFA3B2D-6034-E191-6E08-46EA52038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ru-RU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284DC946-A392-5F6F-770C-01CAE43F3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6D818D13-07D2-7F1B-6E19-4ED796F2D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719A7-2D5D-42B7-BCBD-7049486A0924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2AA62A15-DEA9-8288-80B3-7F735EDCE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11E4BF3E-782D-09F2-C7E0-9734E0D67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DAA01-694A-4CA8-A56A-D5A623B91D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7837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0A4624D-DA8E-13B0-600E-591739615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ru-RU"/>
          </a:p>
        </p:txBody>
      </p:sp>
      <p:sp>
        <p:nvSpPr>
          <p:cNvPr id="3" name="Zástupný objekt pre obrázok 2">
            <a:extLst>
              <a:ext uri="{FF2B5EF4-FFF2-40B4-BE49-F238E27FC236}">
                <a16:creationId xmlns:a16="http://schemas.microsoft.com/office/drawing/2014/main" id="{E56AE467-2CD9-D169-22D7-9E49DB5C13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7F816634-507E-BD69-26A5-DE31E27887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890CF69E-42D1-8C0C-FE29-D981E52A0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719A7-2D5D-42B7-BCBD-7049486A0924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4A9EA5C5-0285-84C5-2B68-0CF0B7623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4B4ED3E2-8550-03C5-A197-908773E16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DAA01-694A-4CA8-A56A-D5A623B91D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5557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D686549-A1D5-E2DA-F5F9-F99D0B1DB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ru-RU"/>
          </a:p>
        </p:txBody>
      </p:sp>
      <p:sp>
        <p:nvSpPr>
          <p:cNvPr id="3" name="Zástupný zvislý text 2">
            <a:extLst>
              <a:ext uri="{FF2B5EF4-FFF2-40B4-BE49-F238E27FC236}">
                <a16:creationId xmlns:a16="http://schemas.microsoft.com/office/drawing/2014/main" id="{3B380649-3E12-F673-49A9-896E24ADA9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ru-RU"/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6770372E-DFE3-FB36-3797-C22B76DD4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719A7-2D5D-42B7-BCBD-7049486A0924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5C75CBD4-B15D-6287-EC1F-E8FCB46DF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B19A526D-E776-9C4D-A340-CE7BC6780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DAA01-694A-4CA8-A56A-D5A623B91D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5010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vislý nadpis 1">
            <a:extLst>
              <a:ext uri="{FF2B5EF4-FFF2-40B4-BE49-F238E27FC236}">
                <a16:creationId xmlns:a16="http://schemas.microsoft.com/office/drawing/2014/main" id="{15BCD592-FE9A-3500-8463-25BBD55A01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ru-RU"/>
          </a:p>
        </p:txBody>
      </p:sp>
      <p:sp>
        <p:nvSpPr>
          <p:cNvPr id="3" name="Zástupný zvislý text 2">
            <a:extLst>
              <a:ext uri="{FF2B5EF4-FFF2-40B4-BE49-F238E27FC236}">
                <a16:creationId xmlns:a16="http://schemas.microsoft.com/office/drawing/2014/main" id="{22178D43-8471-307D-ADE5-37A93C5E4C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ru-RU"/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865E9E71-113C-6F12-C398-16A4AC0B2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719A7-2D5D-42B7-BCBD-7049486A0924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4A60D0E0-E6DE-8192-3BC5-AC79CA86E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FBBEA73A-B983-6FE2-FBAB-DB03DA66E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DAA01-694A-4CA8-A56A-D5A623B91D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4661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eftSidebar"/>
          <p:cNvSpPr/>
          <p:nvPr userDrawn="1"/>
        </p:nvSpPr>
        <p:spPr>
          <a:xfrm>
            <a:off x="0" y="0"/>
            <a:ext cx="279400" cy="6858000"/>
          </a:xfrm>
          <a:prstGeom prst="rect">
            <a:avLst/>
          </a:prstGeom>
          <a:solidFill>
            <a:srgbClr val="0A2B5C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SidebarAccent"/>
          <p:cNvSpPr/>
          <p:nvPr userDrawn="1"/>
        </p:nvSpPr>
        <p:spPr>
          <a:xfrm>
            <a:off x="0" y="762000"/>
            <a:ext cx="279400" cy="1524000"/>
          </a:xfrm>
          <a:prstGeom prst="rect">
            <a:avLst/>
          </a:prstGeom>
          <a:solidFill>
            <a:srgbClr val="0A63A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SidebarAccent2"/>
          <p:cNvSpPr/>
          <p:nvPr userDrawn="1"/>
        </p:nvSpPr>
        <p:spPr>
          <a:xfrm>
            <a:off x="0" y="4826000"/>
            <a:ext cx="279400" cy="7620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BottomHairline"/>
          <p:cNvSpPr/>
          <p:nvPr userDrawn="1"/>
        </p:nvSpPr>
        <p:spPr>
          <a:xfrm>
            <a:off x="508000" y="6451600"/>
            <a:ext cx="11176000" cy="12700"/>
          </a:xfrm>
          <a:prstGeom prst="rect">
            <a:avLst/>
          </a:prstGeom>
          <a:solidFill>
            <a:srgbClr val="0A2B5C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CornerMark1"/>
          <p:cNvSpPr/>
          <p:nvPr userDrawn="1"/>
        </p:nvSpPr>
        <p:spPr>
          <a:xfrm>
            <a:off x="11684000" y="254000"/>
            <a:ext cx="228600" cy="228600"/>
          </a:xfrm>
          <a:prstGeom prst="rect">
            <a:avLst/>
          </a:prstGeom>
          <a:solidFill>
            <a:srgbClr val="0A2B5C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CornerMark2"/>
          <p:cNvSpPr/>
          <p:nvPr userDrawn="1"/>
        </p:nvSpPr>
        <p:spPr>
          <a:xfrm>
            <a:off x="11531600" y="406400"/>
            <a:ext cx="127000" cy="1270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" name="Zástupný objekt pre nadpis 1">
            <a:extLst>
              <a:ext uri="{FF2B5EF4-FFF2-40B4-BE49-F238E27FC236}">
                <a16:creationId xmlns:a16="http://schemas.microsoft.com/office/drawing/2014/main" id="{990A808F-2FAA-6CF8-C19A-318AA827A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  <a:endParaRPr lang="ru-RU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9C4B9A5-18FE-DC9F-6C06-63D47DB6EA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ru-RU"/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80CC0223-CF91-A3AD-A3CC-434F88DB83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F719A7-2D5D-42B7-BCBD-7049486A0924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42DEE541-5C71-76C0-7102-5F91A32047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D82EF411-DB18-0854-02F3-8C676FF4D4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BDAA01-694A-4CA8-A56A-D5A623B91D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8622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lokTextu 3">
            <a:extLst>
              <a:ext uri="{FF2B5EF4-FFF2-40B4-BE49-F238E27FC236}">
                <a16:creationId xmlns:a16="http://schemas.microsoft.com/office/drawing/2014/main" id="{E7666159-C883-4447-B01B-C58A08F0B7BA}"/>
              </a:ext>
            </a:extLst>
          </p:cNvPr>
          <p:cNvSpPr txBox="1"/>
          <p:nvPr/>
        </p:nvSpPr>
        <p:spPr>
          <a:xfrm>
            <a:off x="762000" y="889000"/>
            <a:ext cx="10922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sk-SK" sz="2000" noProof="0" dirty="0">
                <a:solidFill>
                  <a:srgbClr val="333333"/>
                </a:solidFill>
                <a:latin typeface="+mj-lt"/>
                <a:cs typeface="Calibri"/>
              </a:rPr>
              <a:t>SLOVENSKÁ TECHNICKÁ UNIVERZITA V BRATISLAVE
ÚSTAV MANAŽMENTU
Študijný program: Investičné plánovanie v priemyselnom podniku</a:t>
            </a:r>
          </a:p>
        </p:txBody>
      </p:sp>
      <p:sp>
        <p:nvSpPr>
          <p:cNvPr id="5" name="BlokTextu 4">
            <a:extLst>
              <a:ext uri="{FF2B5EF4-FFF2-40B4-BE49-F238E27FC236}">
                <a16:creationId xmlns:a16="http://schemas.microsoft.com/office/drawing/2014/main" id="{9082A0A4-74D5-4685-AA7B-CCF93A11D3C7}"/>
              </a:ext>
            </a:extLst>
          </p:cNvPr>
          <p:cNvSpPr txBox="1"/>
          <p:nvPr/>
        </p:nvSpPr>
        <p:spPr>
          <a:xfrm>
            <a:off x="762000" y="3810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sk-SK" sz="2600" b="1" noProof="0" dirty="0">
                <a:solidFill>
                  <a:srgbClr val="0A2B5C"/>
                </a:solidFill>
                <a:cs typeface="Calibri"/>
              </a:rPr>
              <a:t>BAKALÁRSKA PRÁCA</a:t>
            </a:r>
          </a:p>
        </p:txBody>
      </p:sp>
      <p:sp>
        <p:nvSpPr>
          <p:cNvPr id="7" name="BlokTextu 6">
            <a:extLst>
              <a:ext uri="{FF2B5EF4-FFF2-40B4-BE49-F238E27FC236}">
                <a16:creationId xmlns:a16="http://schemas.microsoft.com/office/drawing/2014/main" id="{D0DE1EC5-8B01-4876-837B-3F3103CD4C35}"/>
              </a:ext>
            </a:extLst>
          </p:cNvPr>
          <p:cNvSpPr txBox="1"/>
          <p:nvPr/>
        </p:nvSpPr>
        <p:spPr>
          <a:xfrm>
            <a:off x="762000" y="2667000"/>
            <a:ext cx="10922000" cy="1016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sk-SK" sz="4000" noProof="0" dirty="0">
                <a:solidFill>
                  <a:srgbClr val="000000"/>
                </a:solidFill>
                <a:cs typeface="Calibri"/>
              </a:rPr>
              <a:t>Automatizácia procesov v podniku</a:t>
            </a:r>
          </a:p>
        </p:txBody>
      </p:sp>
      <p:sp>
        <p:nvSpPr>
          <p:cNvPr id="8" name="BlokTextu 7">
            <a:extLst>
              <a:ext uri="{FF2B5EF4-FFF2-40B4-BE49-F238E27FC236}">
                <a16:creationId xmlns:a16="http://schemas.microsoft.com/office/drawing/2014/main" id="{E3B043CB-4BBB-4EDA-B3D5-9A23E892F9CB}"/>
              </a:ext>
            </a:extLst>
          </p:cNvPr>
          <p:cNvSpPr txBox="1"/>
          <p:nvPr/>
        </p:nvSpPr>
        <p:spPr>
          <a:xfrm>
            <a:off x="508000" y="5791200"/>
            <a:ext cx="63500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sk-SK" sz="1800" noProof="0" dirty="0">
                <a:solidFill>
                  <a:srgbClr val="000000"/>
                </a:solidFill>
                <a:cs typeface="Calibri"/>
              </a:rPr>
              <a:t>Autor: Timofei Timofeev
Vedúci práce: Ing. Branislav Mišota, PhD.</a:t>
            </a:r>
          </a:p>
        </p:txBody>
      </p:sp>
      <p:sp>
        <p:nvSpPr>
          <p:cNvPr id="9" name="BlokTextu 8">
            <a:extLst>
              <a:ext uri="{FF2B5EF4-FFF2-40B4-BE49-F238E27FC236}">
                <a16:creationId xmlns:a16="http://schemas.microsoft.com/office/drawing/2014/main" id="{80975997-C66A-4CF1-8FBF-34461C351E7E}"/>
              </a:ext>
            </a:extLst>
          </p:cNvPr>
          <p:cNvSpPr txBox="1"/>
          <p:nvPr/>
        </p:nvSpPr>
        <p:spPr>
          <a:xfrm>
            <a:off x="7112000" y="60325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r"/>
            <a:r>
              <a:rPr lang="sk-SK" sz="1800" noProof="0" dirty="0">
                <a:solidFill>
                  <a:srgbClr val="000000"/>
                </a:solidFill>
                <a:cs typeface="Calibri"/>
              </a:rPr>
              <a:t>Bratislava 2026</a:t>
            </a:r>
          </a:p>
        </p:txBody>
      </p:sp>
      <p:sp>
        <p:nvSpPr>
          <p:cNvPr id="11" name="BlokTextu 10">
            <a:extLst>
              <a:ext uri="{FF2B5EF4-FFF2-40B4-BE49-F238E27FC236}">
                <a16:creationId xmlns:a16="http://schemas.microsoft.com/office/drawing/2014/main" id="{8DC67B83-CA53-42EB-899B-36236088135C}"/>
              </a:ext>
            </a:extLst>
          </p:cNvPr>
          <p:cNvSpPr txBox="1"/>
          <p:nvPr/>
        </p:nvSpPr>
        <p:spPr>
          <a:xfrm>
            <a:off x="508000" y="6553200"/>
            <a:ext cx="635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sk-SK" sz="900" noProof="0" dirty="0">
                <a:solidFill>
                  <a:srgbClr val="666666"/>
                </a:solidFill>
                <a:cs typeface="Calibri"/>
              </a:rPr>
              <a:t>STU v Bratislave · Ústav manažmentu</a:t>
            </a:r>
          </a:p>
        </p:txBody>
      </p:sp>
    </p:spTree>
    <p:extLst>
      <p:ext uri="{BB962C8B-B14F-4D97-AF65-F5344CB8AC3E}">
        <p14:creationId xmlns:p14="http://schemas.microsoft.com/office/powerpoint/2010/main" val="3706191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kTextu 1">
            <a:extLst>
              <a:ext uri="{FF2B5EF4-FFF2-40B4-BE49-F238E27FC236}">
                <a16:creationId xmlns:a16="http://schemas.microsoft.com/office/drawing/2014/main" id="{471F0874-B8A1-4A33-BD89-EF047E3FEB55}"/>
              </a:ext>
            </a:extLst>
          </p:cNvPr>
          <p:cNvSpPr txBox="1"/>
          <p:nvPr/>
        </p:nvSpPr>
        <p:spPr>
          <a:xfrm>
            <a:off x="762000" y="381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sk-SK" sz="3600" b="1" noProof="0" dirty="0">
                <a:solidFill>
                  <a:srgbClr val="0A2B5C"/>
                </a:solidFill>
                <a:latin typeface="+mj-lt"/>
                <a:cs typeface="Calibri"/>
              </a:rPr>
              <a:t>CIEĽ PRÁCE</a:t>
            </a:r>
          </a:p>
        </p:txBody>
      </p:sp>
      <p:sp>
        <p:nvSpPr>
          <p:cNvPr id="5" name="BlokTextu 4">
            <a:extLst>
              <a:ext uri="{FF2B5EF4-FFF2-40B4-BE49-F238E27FC236}">
                <a16:creationId xmlns:a16="http://schemas.microsoft.com/office/drawing/2014/main" id="{76C6ECE3-65AE-4948-A498-F00348BE02E2}"/>
              </a:ext>
            </a:extLst>
          </p:cNvPr>
          <p:cNvSpPr txBox="1"/>
          <p:nvPr/>
        </p:nvSpPr>
        <p:spPr>
          <a:xfrm>
            <a:off x="508000" y="6553200"/>
            <a:ext cx="635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sk-SK" sz="900" noProof="0" dirty="0">
                <a:solidFill>
                  <a:srgbClr val="666666"/>
                </a:solidFill>
                <a:latin typeface="Calibri"/>
                <a:cs typeface="Calibri"/>
              </a:rPr>
              <a:t>STU v Bratislave · Ústav manažmentu</a:t>
            </a:r>
          </a:p>
        </p:txBody>
      </p:sp>
      <p:sp>
        <p:nvSpPr>
          <p:cNvPr id="8" name="BlokTextu 7">
            <a:extLst>
              <a:ext uri="{FF2B5EF4-FFF2-40B4-BE49-F238E27FC236}">
                <a16:creationId xmlns:a16="http://schemas.microsoft.com/office/drawing/2014/main" id="{596E17C7-7848-6B89-D524-BB32AE262B64}"/>
              </a:ext>
            </a:extLst>
          </p:cNvPr>
          <p:cNvSpPr txBox="1"/>
          <p:nvPr/>
        </p:nvSpPr>
        <p:spPr>
          <a:xfrm>
            <a:off x="762000" y="1206500"/>
            <a:ext cx="10922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k-SK" sz="3200" b="0" i="0" noProof="0" dirty="0">
                <a:effectLst/>
              </a:rPr>
              <a:t>Hlavným cieľom bakalárskej práce je preskúmať a zhodnotiť potenciál využitia automatizácie procesov vo firme.</a:t>
            </a:r>
          </a:p>
        </p:txBody>
      </p:sp>
      <p:sp>
        <p:nvSpPr>
          <p:cNvPr id="28" name="BlokTextu 27">
            <a:extLst>
              <a:ext uri="{FF2B5EF4-FFF2-40B4-BE49-F238E27FC236}">
                <a16:creationId xmlns:a16="http://schemas.microsoft.com/office/drawing/2014/main" id="{9F39630B-A368-4740-9D44-6606F6EA4CBC}"/>
              </a:ext>
            </a:extLst>
          </p:cNvPr>
          <p:cNvSpPr txBox="1"/>
          <p:nvPr/>
        </p:nvSpPr>
        <p:spPr>
          <a:xfrm>
            <a:off x="635000" y="2383543"/>
            <a:ext cx="11049000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i="1" dirty="0">
                <a:solidFill>
                  <a:srgbClr val="0A2B5C"/>
                </a:solidFill>
              </a:rPr>
              <a:t>Pracovný predpoklad: technologická dostupnosť nestačí - rozhoduje organizačná pripravenosť podniku.</a:t>
            </a:r>
            <a:endParaRPr lang="ru-RU" sz="2000" i="1" dirty="0">
              <a:solidFill>
                <a:srgbClr val="0A2B5C"/>
              </a:solidFill>
            </a:endParaRPr>
          </a:p>
        </p:txBody>
      </p:sp>
      <p:sp>
        <p:nvSpPr>
          <p:cNvPr id="29" name="Ovál 28">
            <a:extLst>
              <a:ext uri="{FF2B5EF4-FFF2-40B4-BE49-F238E27FC236}">
                <a16:creationId xmlns:a16="http://schemas.microsoft.com/office/drawing/2014/main" id="{4E0F4F9A-4197-452C-BFA5-74B91E6492AE}"/>
              </a:ext>
            </a:extLst>
          </p:cNvPr>
          <p:cNvSpPr/>
          <p:nvPr/>
        </p:nvSpPr>
        <p:spPr>
          <a:xfrm>
            <a:off x="635000" y="3562350"/>
            <a:ext cx="558800" cy="558800"/>
          </a:xfrm>
          <a:prstGeom prst="ellipse">
            <a:avLst/>
          </a:prstGeom>
          <a:solidFill>
            <a:srgbClr val="0A63A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0" name="BlokTextu 29">
            <a:extLst>
              <a:ext uri="{FF2B5EF4-FFF2-40B4-BE49-F238E27FC236}">
                <a16:creationId xmlns:a16="http://schemas.microsoft.com/office/drawing/2014/main" id="{37A7FA1F-B52E-449F-8DA8-DA4443927502}"/>
              </a:ext>
            </a:extLst>
          </p:cNvPr>
          <p:cNvSpPr txBox="1"/>
          <p:nvPr/>
        </p:nvSpPr>
        <p:spPr>
          <a:xfrm>
            <a:off x="1346200" y="3107324"/>
            <a:ext cx="4495800" cy="1200329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>
              <a:buNone/>
            </a:pPr>
            <a:r>
              <a:rPr lang="sk-SK" sz="3200" b="1" dirty="0">
                <a:solidFill>
                  <a:srgbClr val="0A2B5C"/>
                </a:solidFill>
              </a:rPr>
              <a:t>Prehľad problematiky</a:t>
            </a:r>
          </a:p>
          <a:p>
            <a:pPr algn="l">
              <a:buNone/>
            </a:pPr>
            <a:r>
              <a:rPr lang="sk-SK" sz="2000" dirty="0">
                <a:solidFill>
                  <a:srgbClr val="333333"/>
                </a:solidFill>
              </a:rPr>
              <a:t>BPM, RPA a príbuzné technológie, kritériá výberu procesov, faktory úspechu</a:t>
            </a:r>
          </a:p>
        </p:txBody>
      </p:sp>
      <p:sp>
        <p:nvSpPr>
          <p:cNvPr id="31" name="Ovál 30">
            <a:extLst>
              <a:ext uri="{FF2B5EF4-FFF2-40B4-BE49-F238E27FC236}">
                <a16:creationId xmlns:a16="http://schemas.microsoft.com/office/drawing/2014/main" id="{65F09407-14A2-4D5F-947A-4055637E27C5}"/>
              </a:ext>
            </a:extLst>
          </p:cNvPr>
          <p:cNvSpPr/>
          <p:nvPr/>
        </p:nvSpPr>
        <p:spPr>
          <a:xfrm>
            <a:off x="6350000" y="3562350"/>
            <a:ext cx="558800" cy="558800"/>
          </a:xfrm>
          <a:prstGeom prst="ellipse">
            <a:avLst/>
          </a:prstGeom>
          <a:solidFill>
            <a:srgbClr val="0A63A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BlokTextu 31">
            <a:extLst>
              <a:ext uri="{FF2B5EF4-FFF2-40B4-BE49-F238E27FC236}">
                <a16:creationId xmlns:a16="http://schemas.microsoft.com/office/drawing/2014/main" id="{9D2E39CD-58F2-44B0-A143-2A455C9F69EA}"/>
              </a:ext>
            </a:extLst>
          </p:cNvPr>
          <p:cNvSpPr txBox="1"/>
          <p:nvPr/>
        </p:nvSpPr>
        <p:spPr>
          <a:xfrm>
            <a:off x="7061200" y="3107324"/>
            <a:ext cx="4495800" cy="1200329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>
              <a:buNone/>
            </a:pPr>
            <a:r>
              <a:rPr lang="sk-SK" sz="3200" b="1" dirty="0">
                <a:solidFill>
                  <a:srgbClr val="0A2B5C"/>
                </a:solidFill>
              </a:rPr>
              <a:t>Komparácia prístupov</a:t>
            </a:r>
          </a:p>
          <a:p>
            <a:pPr algn="l">
              <a:buNone/>
            </a:pPr>
            <a:r>
              <a:rPr lang="sk-SK" sz="2000" dirty="0">
                <a:solidFill>
                  <a:srgbClr val="333333"/>
                </a:solidFill>
              </a:rPr>
              <a:t>Komerčné RPA vs. low-code/no-code vs. Python pre MSP</a:t>
            </a:r>
          </a:p>
        </p:txBody>
      </p:sp>
      <p:sp>
        <p:nvSpPr>
          <p:cNvPr id="33" name="Ovál 32">
            <a:extLst>
              <a:ext uri="{FF2B5EF4-FFF2-40B4-BE49-F238E27FC236}">
                <a16:creationId xmlns:a16="http://schemas.microsoft.com/office/drawing/2014/main" id="{7EBDF399-2B13-4A39-A449-46BF0D2FA3F0}"/>
              </a:ext>
            </a:extLst>
          </p:cNvPr>
          <p:cNvSpPr/>
          <p:nvPr/>
        </p:nvSpPr>
        <p:spPr>
          <a:xfrm>
            <a:off x="635000" y="5086350"/>
            <a:ext cx="558800" cy="558800"/>
          </a:xfrm>
          <a:prstGeom prst="ellipse">
            <a:avLst/>
          </a:prstGeom>
          <a:solidFill>
            <a:srgbClr val="0A63A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4" name="BlokTextu 33">
            <a:extLst>
              <a:ext uri="{FF2B5EF4-FFF2-40B4-BE49-F238E27FC236}">
                <a16:creationId xmlns:a16="http://schemas.microsoft.com/office/drawing/2014/main" id="{F0241EA7-6BD1-4635-96E0-3E7F3C2A4B64}"/>
              </a:ext>
            </a:extLst>
          </p:cNvPr>
          <p:cNvSpPr txBox="1"/>
          <p:nvPr/>
        </p:nvSpPr>
        <p:spPr>
          <a:xfrm>
            <a:off x="1346200" y="4631324"/>
            <a:ext cx="4495800" cy="1200329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>
              <a:buNone/>
            </a:pPr>
            <a:r>
              <a:rPr lang="sk-SK" sz="3200" b="1" dirty="0">
                <a:solidFill>
                  <a:srgbClr val="0A2B5C"/>
                </a:solidFill>
              </a:rPr>
              <a:t>Analýza SR</a:t>
            </a:r>
          </a:p>
          <a:p>
            <a:pPr algn="l">
              <a:buNone/>
            </a:pPr>
            <a:r>
              <a:rPr lang="sk-SK" sz="2000" dirty="0">
                <a:solidFill>
                  <a:srgbClr val="333333"/>
                </a:solidFill>
              </a:rPr>
              <a:t>Úroveň automatizácie a digitálnej pripravenosti slovenských MSP vs. EÚ27</a:t>
            </a:r>
          </a:p>
        </p:txBody>
      </p:sp>
      <p:sp>
        <p:nvSpPr>
          <p:cNvPr id="35" name="Ovál 34">
            <a:extLst>
              <a:ext uri="{FF2B5EF4-FFF2-40B4-BE49-F238E27FC236}">
                <a16:creationId xmlns:a16="http://schemas.microsoft.com/office/drawing/2014/main" id="{6873155E-A6E7-40C8-8229-761C24EEA8BE}"/>
              </a:ext>
            </a:extLst>
          </p:cNvPr>
          <p:cNvSpPr/>
          <p:nvPr/>
        </p:nvSpPr>
        <p:spPr>
          <a:xfrm>
            <a:off x="6350000" y="5086350"/>
            <a:ext cx="558800" cy="558800"/>
          </a:xfrm>
          <a:prstGeom prst="ellipse">
            <a:avLst/>
          </a:prstGeom>
          <a:solidFill>
            <a:srgbClr val="0A63A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6" name="BlokTextu 35">
            <a:extLst>
              <a:ext uri="{FF2B5EF4-FFF2-40B4-BE49-F238E27FC236}">
                <a16:creationId xmlns:a16="http://schemas.microsoft.com/office/drawing/2014/main" id="{17722419-76D5-4B10-9760-D6C71AA5A6DB}"/>
              </a:ext>
            </a:extLst>
          </p:cNvPr>
          <p:cNvSpPr txBox="1"/>
          <p:nvPr/>
        </p:nvSpPr>
        <p:spPr>
          <a:xfrm>
            <a:off x="7061200" y="4477436"/>
            <a:ext cx="4495800" cy="1508105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>
              <a:buNone/>
            </a:pPr>
            <a:r>
              <a:rPr lang="sk-SK" sz="3200" b="1" dirty="0">
                <a:solidFill>
                  <a:srgbClr val="0A2B5C"/>
                </a:solidFill>
              </a:rPr>
              <a:t>Výskumná medzera</a:t>
            </a:r>
          </a:p>
          <a:p>
            <a:pPr algn="l">
              <a:buNone/>
            </a:pPr>
            <a:r>
              <a:rPr lang="sk-SK" sz="2000" dirty="0">
                <a:solidFill>
                  <a:srgbClr val="333333"/>
                </a:solidFill>
              </a:rPr>
              <a:t>Prepojenie technologickej zrelosti nástroja s digitálnou pripravenosťou podniku</a:t>
            </a:r>
          </a:p>
        </p:txBody>
      </p:sp>
    </p:spTree>
    <p:extLst>
      <p:ext uri="{BB962C8B-B14F-4D97-AF65-F5344CB8AC3E}">
        <p14:creationId xmlns:p14="http://schemas.microsoft.com/office/powerpoint/2010/main" val="94959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kTextu 1">
            <a:extLst>
              <a:ext uri="{FF2B5EF4-FFF2-40B4-BE49-F238E27FC236}">
                <a16:creationId xmlns:a16="http://schemas.microsoft.com/office/drawing/2014/main" id="{65F89965-44FC-45FA-A69F-45094C98275C}"/>
              </a:ext>
            </a:extLst>
          </p:cNvPr>
          <p:cNvSpPr txBox="1"/>
          <p:nvPr/>
        </p:nvSpPr>
        <p:spPr>
          <a:xfrm>
            <a:off x="762000" y="508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sk-SK" sz="3600" b="1" noProof="0" dirty="0">
                <a:solidFill>
                  <a:srgbClr val="0A2B5C"/>
                </a:solidFill>
                <a:latin typeface="Calibri"/>
                <a:cs typeface="Calibri"/>
              </a:rPr>
              <a:t>METÓDY A METODIKA PRÁCE</a:t>
            </a:r>
          </a:p>
        </p:txBody>
      </p:sp>
      <p:sp>
        <p:nvSpPr>
          <p:cNvPr id="5" name="BlokTextu 4">
            <a:extLst>
              <a:ext uri="{FF2B5EF4-FFF2-40B4-BE49-F238E27FC236}">
                <a16:creationId xmlns:a16="http://schemas.microsoft.com/office/drawing/2014/main" id="{FFC95AC9-FF0D-47CA-B2C2-3E40AFCB62A7}"/>
              </a:ext>
            </a:extLst>
          </p:cNvPr>
          <p:cNvSpPr txBox="1"/>
          <p:nvPr/>
        </p:nvSpPr>
        <p:spPr>
          <a:xfrm>
            <a:off x="508000" y="6553200"/>
            <a:ext cx="635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sk-SK" sz="900" noProof="0" dirty="0">
                <a:solidFill>
                  <a:srgbClr val="666666"/>
                </a:solidFill>
                <a:latin typeface="Calibri"/>
                <a:cs typeface="Calibri"/>
              </a:rPr>
              <a:t>STU v Bratislave · Ústav manažmentu</a:t>
            </a:r>
          </a:p>
        </p:txBody>
      </p:sp>
      <p:sp>
        <p:nvSpPr>
          <p:cNvPr id="8" name="BlokTextu 7">
            <a:extLst>
              <a:ext uri="{FF2B5EF4-FFF2-40B4-BE49-F238E27FC236}">
                <a16:creationId xmlns:a16="http://schemas.microsoft.com/office/drawing/2014/main" id="{46B5E68D-7E1F-41A8-93CF-B86E3C10CF57}"/>
              </a:ext>
            </a:extLst>
          </p:cNvPr>
          <p:cNvSpPr txBox="1"/>
          <p:nvPr/>
        </p:nvSpPr>
        <p:spPr>
          <a:xfrm>
            <a:off x="762000" y="1397000"/>
            <a:ext cx="10922000" cy="495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sk-SK" sz="2000" b="1" noProof="0" dirty="0">
                <a:solidFill>
                  <a:srgbClr val="0A2B5C"/>
                </a:solidFill>
                <a:latin typeface="Calibri"/>
                <a:cs typeface="Calibri"/>
              </a:rPr>
              <a:t>Literárny rešerš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sk-SK" sz="2000" noProof="0" dirty="0">
                <a:solidFill>
                  <a:srgbClr val="333333"/>
                </a:solidFill>
                <a:cs typeface="Calibri"/>
              </a:rPr>
              <a:t>Zostavenie súboru odborných zdrojov z oblasti RPA, jazyka Python a digitálnej pripravenosti MSP (publikácie 2021</a:t>
            </a:r>
            <a:r>
              <a:rPr lang="ru-RU" sz="2000" noProof="0" dirty="0">
                <a:solidFill>
                  <a:srgbClr val="333333"/>
                </a:solidFill>
                <a:cs typeface="Calibri"/>
              </a:rPr>
              <a:t>-</a:t>
            </a:r>
            <a:r>
              <a:rPr lang="sk-SK" sz="2000" noProof="0" dirty="0">
                <a:solidFill>
                  <a:srgbClr val="333333"/>
                </a:solidFill>
                <a:cs typeface="Calibri"/>
              </a:rPr>
              <a:t>2025).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sk-SK" sz="2000" b="1" noProof="0" dirty="0">
                <a:solidFill>
                  <a:srgbClr val="0A2B5C"/>
                </a:solidFill>
                <a:cs typeface="Calibri"/>
              </a:rPr>
              <a:t>Metóda review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sk-SK" sz="2000" noProof="0" dirty="0">
                <a:solidFill>
                  <a:srgbClr val="333333"/>
                </a:solidFill>
                <a:cs typeface="Calibri"/>
              </a:rPr>
              <a:t>Kritické posúdenie kvality, relevantnosti a aktuálnosti zdrojov; výber publikácií zodpovedajúcich zameraniu práce.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sk-SK" sz="2000" b="1" noProof="0" dirty="0">
                <a:solidFill>
                  <a:srgbClr val="0A2B5C"/>
                </a:solidFill>
                <a:cs typeface="Calibri"/>
              </a:rPr>
              <a:t>Metóda analýzy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sk-SK" sz="2000" noProof="0" dirty="0">
                <a:solidFill>
                  <a:srgbClr val="333333"/>
                </a:solidFill>
                <a:cs typeface="Calibri"/>
              </a:rPr>
              <a:t>Dekompozícia komplexných tém (vzťah RPA k príbuzným technológiám, faktory úspechu automatizačných projektov) na čiastkové aspekty.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sk-SK" sz="2000" b="1" noProof="0" dirty="0">
                <a:solidFill>
                  <a:srgbClr val="0A2B5C"/>
                </a:solidFill>
                <a:cs typeface="Calibri"/>
              </a:rPr>
              <a:t>Metóda komparácie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sk-SK" sz="2000" noProof="0" dirty="0">
                <a:solidFill>
                  <a:srgbClr val="333333"/>
                </a:solidFill>
                <a:cs typeface="Calibri"/>
              </a:rPr>
              <a:t>Porovnanie prístupov k automatizácii (komerčné RPA vs. LCNC vs. Python), úrovne digitalizácie SR vs. EÚ27, výsledkov prípadových štúdií.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sk-SK" sz="2000" b="1" noProof="0" dirty="0">
                <a:solidFill>
                  <a:srgbClr val="0A2B5C"/>
                </a:solidFill>
                <a:cs typeface="Calibri"/>
              </a:rPr>
              <a:t>Zdroje údajov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sk-SK" sz="2000" noProof="0" dirty="0">
                <a:solidFill>
                  <a:srgbClr val="333333"/>
                </a:solidFill>
                <a:cs typeface="Calibri"/>
              </a:rPr>
              <a:t>Recenzované vedecké časopisy (IEEE Access, Sustainability, Applied Sciences), systematické prehľady literatúry, oficiálne správy (DESI 2024, Európska komisia).</a:t>
            </a:r>
          </a:p>
        </p:txBody>
      </p:sp>
    </p:spTree>
    <p:extLst>
      <p:ext uri="{BB962C8B-B14F-4D97-AF65-F5344CB8AC3E}">
        <p14:creationId xmlns:p14="http://schemas.microsoft.com/office/powerpoint/2010/main" val="2685965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kTextu 1">
            <a:extLst>
              <a:ext uri="{FF2B5EF4-FFF2-40B4-BE49-F238E27FC236}">
                <a16:creationId xmlns:a16="http://schemas.microsoft.com/office/drawing/2014/main" id="{0AA1696B-8ED5-4700-A003-3515E82A7EAB}"/>
              </a:ext>
            </a:extLst>
          </p:cNvPr>
          <p:cNvSpPr txBox="1"/>
          <p:nvPr/>
        </p:nvSpPr>
        <p:spPr>
          <a:xfrm>
            <a:off x="762000" y="508000"/>
            <a:ext cx="10922000" cy="1270000"/>
          </a:xfrm>
          <a:prstGeom prst="rect">
            <a:avLst/>
          </a:prstGeom>
        </p:spPr>
        <p:txBody>
          <a:bodyPr vertOverflow="overflow"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sk-SK" sz="3600" b="1" kern="1200" noProof="0" dirty="0">
                <a:solidFill>
                  <a:srgbClr val="0A2B5C"/>
                </a:solidFill>
                <a:latin typeface="+mj-lt"/>
                <a:ea typeface="+mj-ea"/>
                <a:cs typeface="+mj-cs"/>
              </a:rPr>
              <a:t>PREDPOKLADANÉ VÝSTUPY A OČAKÁVANÉ VÝSLEDKY</a:t>
            </a:r>
          </a:p>
        </p:txBody>
      </p:sp>
      <p:sp>
        <p:nvSpPr>
          <p:cNvPr id="9" name="Podnadpis 8">
            <a:extLst>
              <a:ext uri="{FF2B5EF4-FFF2-40B4-BE49-F238E27FC236}">
                <a16:creationId xmlns:a16="http://schemas.microsoft.com/office/drawing/2014/main" id="{DB1747FA-6DA3-FFF8-E60A-8DA72B5A17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6000" y="2032000"/>
            <a:ext cx="10668000" cy="43180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lang="sk-SK" sz="30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 Upravený dataset podnikových údajov na</a:t>
            </a:r>
            <a:r>
              <a:rPr lang="ru-RU" sz="30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sk-SK" sz="30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ďalšie automatizované spracov</a:t>
            </a:r>
            <a:r>
              <a:rPr lang="en-US" sz="30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sk-SK" sz="30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nie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lang="sk-SK" sz="30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2. Implementované open-source knižnice na automatizáciu spracovania</a:t>
            </a:r>
            <a:r>
              <a:rPr lang="en-US" sz="30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sk-SK" sz="30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údajov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lang="sk-SK" sz="30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3. Vytvorený zdrojový kód ktorý spracúva dataset podnikových</a:t>
            </a:r>
            <a:r>
              <a:rPr lang="en-US" sz="30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sk-SK" sz="30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údajov</a:t>
            </a:r>
            <a:r>
              <a:rPr lang="ru-RU" sz="30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sk-SK" sz="30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 programovacom jazyku</a:t>
            </a:r>
            <a:r>
              <a:rPr lang="ru-RU" sz="30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sk-SK" sz="30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Python</a:t>
            </a:r>
          </a:p>
        </p:txBody>
      </p:sp>
      <p:sp>
        <p:nvSpPr>
          <p:cNvPr id="5" name="BlokTextu 4">
            <a:extLst>
              <a:ext uri="{FF2B5EF4-FFF2-40B4-BE49-F238E27FC236}">
                <a16:creationId xmlns:a16="http://schemas.microsoft.com/office/drawing/2014/main" id="{BF959169-4324-4BF9-BC87-37AF42231D47}"/>
              </a:ext>
            </a:extLst>
          </p:cNvPr>
          <p:cNvSpPr txBox="1"/>
          <p:nvPr/>
        </p:nvSpPr>
        <p:spPr>
          <a:xfrm>
            <a:off x="508000" y="6553200"/>
            <a:ext cx="635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lang="sk-SK" sz="900" noProof="0" dirty="0">
                <a:solidFill>
                  <a:srgbClr val="666666"/>
                </a:solidFill>
                <a:latin typeface="Calibri"/>
                <a:cs typeface="Calibri"/>
              </a:rPr>
              <a:t>STU v Bratislave · Ústav manažmentu</a:t>
            </a:r>
          </a:p>
        </p:txBody>
      </p:sp>
    </p:spTree>
    <p:extLst>
      <p:ext uri="{BB962C8B-B14F-4D97-AF65-F5344CB8AC3E}">
        <p14:creationId xmlns:p14="http://schemas.microsoft.com/office/powerpoint/2010/main" val="2499382781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 [1776890742471]">
  <a:themeElements>
    <a:clrScheme name="Office">
      <a:dk1>
        <a:srgbClr val="000000"/>
      </a:dk1>
      <a:lt1>
        <a:srgbClr val="FFFFFF"/>
      </a:lt1>
      <a:dk2>
        <a:srgbClr val="0A2B5C"/>
      </a:dk2>
      <a:lt2>
        <a:srgbClr val="E8E8E8"/>
      </a:lt2>
      <a:accent1>
        <a:srgbClr val="0A63A8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165370B-A4A4-4604-A7C3-A02C5A2CD0CF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f19d9ba0-9ab0-4054-b9de-9f47b0c65715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8f4a26c-0ecf-4727-8bd6-21e5c52e6a0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F03B7D9C85D604F903E1CD0F739FC9C" ma:contentTypeVersion="6" ma:contentTypeDescription="Create a new document." ma:contentTypeScope="" ma:versionID="f10b611c81f606617c1632432ba9581c">
  <xsd:schema xmlns:xsd="http://www.w3.org/2001/XMLSchema" xmlns:xs="http://www.w3.org/2001/XMLSchema" xmlns:p="http://schemas.microsoft.com/office/2006/metadata/properties" xmlns:ns3="d8f4a26c-0ecf-4727-8bd6-21e5c52e6a0e" targetNamespace="http://schemas.microsoft.com/office/2006/metadata/properties" ma:root="true" ma:fieldsID="8cc8135afcd6e5815332156718b884ad" ns3:_="">
    <xsd:import namespace="d8f4a26c-0ecf-4727-8bd6-21e5c52e6a0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f4a26c-0ecf-4727-8bd6-21e5c52e6a0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1D3C52-0B0C-4357-8058-A2FE50DBDA92}">
  <ds:schemaRefs>
    <ds:schemaRef ds:uri="d8f4a26c-0ecf-4727-8bd6-21e5c52e6a0e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purl.org/dc/dcmitype/"/>
    <ds:schemaRef ds:uri="http://www.w3.org/XML/1998/namespace"/>
    <ds:schemaRef ds:uri="http://purl.org/dc/terms/"/>
    <ds:schemaRef ds:uri="http://schemas.microsoft.com/office/infopath/2007/PartnerControl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43ABF65A-9938-4F7C-8321-147963CDF49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C38F53D-EFF4-4711-AF27-2DEF4C2ACD5C}">
  <ds:schemaRefs>
    <ds:schemaRef ds:uri="d8f4a26c-0ecf-4727-8bd6-21e5c52e6a0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</TotalTime>
  <Words>307</Words>
  <Application>Microsoft Office PowerPoint</Application>
  <PresentationFormat>Širokouhlá</PresentationFormat>
  <Paragraphs>40</Paragraphs>
  <Slides>4</Slides>
  <Notes>1</Notes>
  <HiddenSlides>0</HiddenSlides>
  <MMClips>0</MMClips>
  <ScaleCrop>false</ScaleCrop>
  <HeadingPairs>
    <vt:vector size="6" baseType="variant">
      <vt:variant>
        <vt:lpstr>Použité písma</vt:lpstr>
      </vt:variant>
      <vt:variant>
        <vt:i4>3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4</vt:i4>
      </vt:variant>
    </vt:vector>
  </HeadingPairs>
  <TitlesOfParts>
    <vt:vector size="8" baseType="lpstr">
      <vt:lpstr>Aptos</vt:lpstr>
      <vt:lpstr>Arial</vt:lpstr>
      <vt:lpstr>Calibri</vt:lpstr>
      <vt:lpstr>Motív Office [1776890742471]</vt:lpstr>
      <vt:lpstr>Prezentácia programu PowerPoint</vt:lpstr>
      <vt:lpstr>Prezentácia programu PowerPoint</vt:lpstr>
      <vt:lpstr>Prezentácia programu PowerPoint</vt:lpstr>
      <vt:lpstr>Prezentácia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Automatizácia procesov v podniku</dc:title>
  <dc:creator>Timofei Timofeev</dc:creator>
  <cp:lastModifiedBy>Timofei Timofeev</cp:lastModifiedBy>
  <cp:revision>16</cp:revision>
  <dcterms:created xsi:type="dcterms:W3CDTF">2026-04-22T19:56:01Z</dcterms:created>
  <dcterms:modified xsi:type="dcterms:W3CDTF">2026-04-23T08:17:15Z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0x0101001F03B7D9C85D604F903E1CD0F739FC9C</vt:lpwstr>
  </property>
</Properties>
</file>